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8" r:id="rId10"/>
    <p:sldId id="263" r:id="rId11"/>
    <p:sldId id="264" r:id="rId12"/>
    <p:sldId id="266" r:id="rId13"/>
    <p:sldId id="269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40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8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1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6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0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7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2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7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8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5405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89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5712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96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62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6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39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663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AI-Driven Customer Intelligence System  </a:t>
            </a:r>
            <a:br>
              <a:rPr lang="en-US" dirty="0"/>
            </a:br>
            <a:r>
              <a:rPr lang="en-US" dirty="0"/>
              <a:t>for Strategic Business Decision Making 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Using Unsupervised Learning  </a:t>
            </a:r>
            <a:br>
              <a:rPr lang="en-US" dirty="0"/>
            </a:b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10800000" flipV="1">
            <a:off x="2129365" y="4775200"/>
            <a:ext cx="5185833" cy="93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Chandramouli Gangopadhyay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400" y="1600200"/>
            <a:ext cx="76454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Businesses lack labeled customer data  </a:t>
            </a:r>
          </a:p>
          <a:p>
            <a:pPr marL="0" indent="0">
              <a:buNone/>
            </a:pPr>
            <a:r>
              <a:rPr lang="en-US" dirty="0"/>
              <a:t>• Hard to identify valuable customers  </a:t>
            </a:r>
          </a:p>
          <a:p>
            <a:pPr marL="0" indent="0">
              <a:buNone/>
            </a:pPr>
            <a:r>
              <a:rPr lang="en-US" dirty="0"/>
              <a:t>• Need data-driven segmentation  </a:t>
            </a:r>
          </a:p>
          <a:p>
            <a:endParaRPr lang="en-US" dirty="0"/>
          </a:p>
          <a:p>
            <a:r>
              <a:rPr lang="en-US" dirty="0"/>
              <a:t>Goal:</a:t>
            </a:r>
          </a:p>
          <a:p>
            <a:pPr marL="0" indent="0">
              <a:buNone/>
            </a:pPr>
            <a:r>
              <a:rPr lang="en-US" dirty="0"/>
              <a:t>→ Discover hidden customer groups  </a:t>
            </a:r>
          </a:p>
          <a:p>
            <a:pPr marL="0" indent="0">
              <a:buNone/>
            </a:pPr>
            <a:r>
              <a:rPr lang="en-US" dirty="0"/>
              <a:t>→ Improve marketing &amp; retention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Dataset Description:</a:t>
            </a:r>
          </a:p>
          <a:p>
            <a:pPr marL="0" indent="0">
              <a:buNone/>
            </a:pPr>
            <a:r>
              <a:rPr lang="en-US" dirty="0"/>
              <a:t>The dataset contains customer transaction data including Invoice details, Quantity, Unit Price, Customer ID, and Country. It is used to analyze customer purchasing behavior and perform segmentation.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Unsupervised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No labeled dataset available  </a:t>
            </a:r>
          </a:p>
          <a:p>
            <a:pPr marL="0" indent="0">
              <a:buNone/>
            </a:pPr>
            <a:r>
              <a:rPr lang="en-US" dirty="0"/>
              <a:t>• Helps discover hidden patterns  </a:t>
            </a:r>
          </a:p>
          <a:p>
            <a:pPr marL="0" indent="0">
              <a:buNone/>
            </a:pPr>
            <a:r>
              <a:rPr lang="en-US" dirty="0"/>
              <a:t>• Groups customers automatically  </a:t>
            </a:r>
          </a:p>
          <a:p>
            <a:endParaRPr lang="en-US" dirty="0"/>
          </a:p>
          <a:p>
            <a:r>
              <a:rPr lang="en-US" dirty="0"/>
              <a:t> Best suited for real-world business data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1BC9E-8F7A-B559-ED38-4F922EAA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F1F2D-A946-1E8B-AD53-18F9B023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Raw Data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Data Cleaning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Feature Engineering (RFM + Ratios)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Clustering Algorithms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Evaluation Metrics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Cluster Interpretation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506665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(RFM)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RFM Features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• Recency</a:t>
            </a:r>
            <a:br>
              <a:rPr lang="en-US" dirty="0"/>
            </a:br>
            <a:r>
              <a:rPr lang="en-US" dirty="0"/>
              <a:t>• Frequency</a:t>
            </a:r>
            <a:br>
              <a:rPr lang="en-US" dirty="0"/>
            </a:br>
            <a:r>
              <a:rPr lang="en-US" dirty="0"/>
              <a:t>• Monetary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Derived Ratios:</a:t>
            </a:r>
            <a:br>
              <a:rPr lang="en-US" dirty="0"/>
            </a:br>
            <a:r>
              <a:rPr lang="en-US" dirty="0"/>
              <a:t>• Avg Order Value</a:t>
            </a:r>
            <a:br>
              <a:rPr lang="en-US" dirty="0"/>
            </a:br>
            <a:r>
              <a:rPr lang="en-US" dirty="0"/>
              <a:t>• Purchase Rate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→ Captures deeper customer behavior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</a:t>
            </a:r>
          </a:p>
          <a:p>
            <a:r>
              <a:rPr lang="en-US" dirty="0"/>
              <a:t>DBSCAN</a:t>
            </a:r>
          </a:p>
          <a:p>
            <a:r>
              <a:rPr lang="en-US" dirty="0"/>
              <a:t>Hierarchical Clustering</a:t>
            </a:r>
          </a:p>
          <a:p>
            <a:r>
              <a:rPr lang="en-US" dirty="0"/>
              <a:t>Gaussian Mixture Model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Comparison based on:</a:t>
            </a:r>
            <a:br>
              <a:rPr lang="en-US" dirty="0"/>
            </a:br>
            <a:r>
              <a:rPr lang="en-US" dirty="0"/>
              <a:t>• Silhouette Score</a:t>
            </a:r>
            <a:br>
              <a:rPr lang="en-US" dirty="0"/>
            </a:br>
            <a:r>
              <a:rPr lang="en-US" dirty="0"/>
              <a:t>• Davies-Bouldin Index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</a:t>
            </a:r>
            <a:r>
              <a:rPr lang="en-US" dirty="0"/>
              <a:t> 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Best Algorithm: K-Means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Reason:</a:t>
            </a:r>
          </a:p>
          <a:p>
            <a:pPr marL="0" indent="0">
              <a:buNone/>
            </a:pPr>
            <a:r>
              <a:rPr lang="en-US" dirty="0"/>
              <a:t>• Better cluster separation</a:t>
            </a:r>
          </a:p>
          <a:p>
            <a:pPr marL="0" indent="0">
              <a:buNone/>
            </a:pPr>
            <a:r>
              <a:rPr lang="en-US" dirty="0"/>
              <a:t>• Higher Silhouette Score</a:t>
            </a:r>
          </a:p>
          <a:p>
            <a:pPr marL="0" indent="0">
              <a:buNone/>
            </a:pPr>
            <a:r>
              <a:rPr lang="en-US" dirty="0"/>
              <a:t>• Lower Davies-Bouldin Index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Optimal clusters: 4</a:t>
            </a:r>
          </a:p>
          <a:p>
            <a:pPr marL="0" indent="0">
              <a:buNone/>
            </a:pPr>
            <a:r>
              <a:rPr dirty="0"/>
              <a:t>• Segments identified:</a:t>
            </a:r>
          </a:p>
          <a:p>
            <a:r>
              <a:rPr dirty="0"/>
              <a:t>High Value, Loyal, At Risk, Low Value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K=4 chosen because:</a:t>
            </a:r>
          </a:p>
          <a:p>
            <a:pPr marL="0" indent="0">
              <a:buNone/>
            </a:pPr>
            <a:r>
              <a:rPr lang="en-US" dirty="0"/>
              <a:t>• Elbow curve shows diminishing returns after 4</a:t>
            </a:r>
          </a:p>
          <a:p>
            <a:pPr marL="0" indent="0">
              <a:buNone/>
            </a:pPr>
            <a:r>
              <a:rPr lang="en-US" dirty="0"/>
              <a:t>• Silhouette score is highest at k=4</a:t>
            </a:r>
          </a:p>
          <a:p>
            <a:pPr marL="0" indent="0">
              <a:buNone/>
            </a:pPr>
            <a:r>
              <a:rPr lang="en-US" dirty="0"/>
              <a:t>• Clusters are well-separated in PCA visualization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A796-64F9-9CC6-5F37-6A53C63C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</a:t>
            </a:r>
            <a:r>
              <a:rPr lang="en-US" dirty="0" err="1"/>
              <a:t>Interpretetion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A760C-51E1-BD54-40FC-8A5B95250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Cluster Examples:</a:t>
            </a:r>
          </a:p>
          <a:p>
            <a:pPr marL="0" indent="0">
              <a:buNone/>
            </a:pPr>
            <a:r>
              <a:rPr lang="en-US" dirty="0"/>
              <a:t>• High-value premium buyers</a:t>
            </a:r>
          </a:p>
          <a:p>
            <a:pPr marL="0" indent="0">
              <a:buNone/>
            </a:pPr>
            <a:r>
              <a:rPr lang="en-US" dirty="0"/>
              <a:t>• Budget occasional shoppers</a:t>
            </a:r>
          </a:p>
          <a:p>
            <a:pPr marL="0" indent="0">
              <a:buNone/>
            </a:pPr>
            <a:r>
              <a:rPr lang="en-US" dirty="0"/>
              <a:t>• High-frequency low spenders</a:t>
            </a:r>
          </a:p>
          <a:p>
            <a:pPr marL="0" indent="0">
              <a:buNone/>
            </a:pPr>
            <a:r>
              <a:rPr lang="en-US" dirty="0"/>
              <a:t>• At-risk customers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→ Based on RFM 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74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High Revenue → Focus retention</a:t>
            </a:r>
          </a:p>
          <a:p>
            <a:pPr marL="0" indent="0">
              <a:buNone/>
            </a:pPr>
            <a:r>
              <a:rPr lang="en-US" dirty="0"/>
              <a:t>• Premium Users → Upsell products</a:t>
            </a:r>
          </a:p>
          <a:p>
            <a:pPr marL="0" indent="0">
              <a:buNone/>
            </a:pPr>
            <a:r>
              <a:rPr lang="en-US" dirty="0"/>
              <a:t>• At-risk → Re-engagement campaigns</a:t>
            </a:r>
          </a:p>
          <a:p>
            <a:pPr marL="0" indent="0">
              <a:buNone/>
            </a:pPr>
            <a:r>
              <a:rPr lang="en-US" dirty="0"/>
              <a:t>• Low-value → Discount strategies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Targeted marketing campaigns</a:t>
            </a:r>
          </a:p>
          <a:p>
            <a:pPr marL="0" indent="0">
              <a:buNone/>
            </a:pPr>
            <a:r>
              <a:rPr lang="en-US" dirty="0"/>
              <a:t>• Improved customer retention</a:t>
            </a:r>
          </a:p>
          <a:p>
            <a:pPr marL="0" indent="0">
              <a:buNone/>
            </a:pPr>
            <a:r>
              <a:rPr lang="en-US" dirty="0"/>
              <a:t>• Better decision-making</a:t>
            </a:r>
          </a:p>
          <a:p>
            <a:pPr marL="0" indent="0">
              <a:buNone/>
            </a:pPr>
            <a:r>
              <a:rPr lang="en-US" dirty="0"/>
              <a:t>• Increased revenue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→ Acts as a Customer Intelligence System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0C1E-ACD4-5753-BD06-58FD17D1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Features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DF75-4E5C-4991-E0E9-F9ECFC044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Advanced Features Implemented:</a:t>
            </a:r>
          </a:p>
          <a:p>
            <a:pPr marL="0" indent="0">
              <a:buNone/>
            </a:pPr>
            <a:r>
              <a:rPr lang="en-US" dirty="0"/>
              <a:t>• Customer Lifetime Value (CLV) grouping  </a:t>
            </a:r>
          </a:p>
          <a:p>
            <a:pPr marL="0" indent="0">
              <a:buNone/>
            </a:pPr>
            <a:r>
              <a:rPr lang="en-US" dirty="0"/>
              <a:t>→ Identifies long-term valuable customers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Time-based Segmentation  </a:t>
            </a:r>
          </a:p>
          <a:p>
            <a:pPr marL="0" indent="0">
              <a:buNone/>
            </a:pPr>
            <a:r>
              <a:rPr lang="en-US" dirty="0"/>
              <a:t>→ Tracks customer activity over time  </a:t>
            </a:r>
          </a:p>
          <a:p>
            <a:pPr marL="0" indent="0">
              <a:buNone/>
            </a:pPr>
            <a:r>
              <a:rPr lang="en-US" dirty="0"/>
              <a:t>→ Enhances business decision-making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Both of these Enhance long-term customer understanding and strategic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555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81A9-D423-C4C7-F899-DC627354C5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09663"/>
          </a:xfrm>
        </p:spPr>
        <p:txBody>
          <a:bodyPr/>
          <a:lstStyle/>
          <a:p>
            <a:r>
              <a:rPr lang="en-US" dirty="0"/>
              <a:t>Visualization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C81208-8A3E-A53E-8036-AE137291DDD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812800"/>
            <a:ext cx="3140075" cy="2936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2594F4-4A14-5E7B-0DEF-3D53EF6DADA7}"/>
              </a:ext>
            </a:extLst>
          </p:cNvPr>
          <p:cNvSpPr txBox="1"/>
          <p:nvPr/>
        </p:nvSpPr>
        <p:spPr>
          <a:xfrm>
            <a:off x="855926" y="3732703"/>
            <a:ext cx="314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Elbow Method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93750E-5CC2-9158-E1F6-5623EB703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066" y="761501"/>
            <a:ext cx="3572933" cy="29881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BFB187-9D00-CA72-1E58-04BBC77F7617}"/>
              </a:ext>
            </a:extLst>
          </p:cNvPr>
          <p:cNvSpPr txBox="1"/>
          <p:nvPr/>
        </p:nvSpPr>
        <p:spPr>
          <a:xfrm>
            <a:off x="4682066" y="3731012"/>
            <a:ext cx="298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Heat-Map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8FB5B8-E3E9-A4EF-2605-DBF7B9C70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158" y="4278995"/>
            <a:ext cx="3267606" cy="244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83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Clustering helps businesses understand customers</a:t>
            </a:r>
          </a:p>
          <a:p>
            <a:r>
              <a:rPr dirty="0"/>
              <a:t>and take data-driven decisions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280BF-7531-3813-EF7E-224F5F37BA1E}"/>
              </a:ext>
            </a:extLst>
          </p:cNvPr>
          <p:cNvSpPr txBox="1"/>
          <p:nvPr/>
        </p:nvSpPr>
        <p:spPr>
          <a:xfrm>
            <a:off x="3420532" y="4537630"/>
            <a:ext cx="462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Thank You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400</Words>
  <Application>Microsoft Office PowerPoint</Application>
  <PresentationFormat>On-screen Show (4:3)</PresentationFormat>
  <Paragraphs>93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AI-Driven Customer Intelligence System   for Strategic Business Decision Making    Using Unsupervised Learning    </vt:lpstr>
      <vt:lpstr>Problem Statement</vt:lpstr>
      <vt:lpstr>Why Unsupervised Learning?</vt:lpstr>
      <vt:lpstr>System Pipeline</vt:lpstr>
      <vt:lpstr>Feature Engineering (RFM)</vt:lpstr>
      <vt:lpstr>Algorithms Used</vt:lpstr>
      <vt:lpstr>Best Model</vt:lpstr>
      <vt:lpstr>Clustering Results</vt:lpstr>
      <vt:lpstr>Clustering Interpretetion</vt:lpstr>
      <vt:lpstr>Business Insights</vt:lpstr>
      <vt:lpstr>Real-World Impact</vt:lpstr>
      <vt:lpstr>Advanced Features </vt:lpstr>
      <vt:lpstr>Visualization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Eliminator 658</cp:lastModifiedBy>
  <cp:revision>5</cp:revision>
  <dcterms:created xsi:type="dcterms:W3CDTF">2013-01-27T09:14:16Z</dcterms:created>
  <dcterms:modified xsi:type="dcterms:W3CDTF">2026-03-22T05:31:42Z</dcterms:modified>
  <cp:category/>
</cp:coreProperties>
</file>